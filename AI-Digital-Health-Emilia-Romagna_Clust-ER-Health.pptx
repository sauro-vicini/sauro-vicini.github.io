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di inquadramento sull'ecosistema AI + digital health dell'Emilia-Romagna. Obiettivo: mostrare non solo l'elenco delle attività, ma il modo in cui si collegano tra loro. Fonti principali: health.clust-er.it, regione.emilia-romagna.it, art-er.it, unibo.it, auslromagna.it.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Dati FSE: Regione Emilia-Romagna (set. 2025 e mar. 2026). IT4LIA AI Factory: Regione E-R / EuroHPC, avvio operativo 2025 al Tecnopolo DAMA. Soci Clust-ER Health: pagina 'L'Associazione'.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chiave: usare le quattro fasce come indice del resto della presentazione. Il messaggio è che nessun livello funziona da solo — l'AI in sanità richiede dati regionali, calcolo, validazione clinica e imprese che industrializzino.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IT4LIA: avvio operativo annunciato dalla Regione E-R nel settembre 2025; 7 AI Factory europee per 1,5 mld €. FSE: 4,3 mln fascicoli attivi e 68 mln di accessi in un anno (set. 2025); 93% consensi a mar. 2026. Agenda digitale 2025-2029 approvata dall'Assemblea legislativa.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DARE: iniziativa PNC coordinata da UNIBO, 250+ ricercatori, articolata in spoke. FAIR: partenariato esteso PNRR, UNIBO capofila dello Spoke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Value Chain citate nelle pagine pubbliche del sito sono Big Data &amp; AI, Medical Devices/MedTech, SalusTech, Pharma &amp; ATMPs, MatERials. Verificare la denominazione aggiornata prima di un uso esterno.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pagine Value Chain del sito Clust-ER Health. Nel 2025 la Value Chain MedTech assume il nome 'Medical Devices'.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pagina Value Chain 'Big Data e AI' e Report Big Data &amp; AI (sessione del 14.10.2025) pubblicato su health.clust-er.it.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raccontare come mappa di flussi: la VC Big Data &amp; AI funziona da hub perché ogni altra filiera le fornisce dati e ne riceve metodo, modelli e regole d'uso.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utile per spiegare a un interlocutore esterno perché serve un cluster: nessuno degli attori copre da solo l'intera catena.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Riferimenti: articoli del sito Clust-ER Health su R2B, Exposanità 2026, Innovation Tour della medicina rigenerativa, rete BioHubs, missione a Bruxelles.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PRECISEU: 25 partner, 12 regioni, 4 JIP. InnoMedCatalyst: Clust-ER Health task leader del WP4 (programma di accelerazione). MEDIC NEST: consorzio cluster su medicina di precisione.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Matrice interpretativa costruita a partire dai ruoli descritti nelle fonti pubbliche: serve a mostrare le sovrapposizioni, non a certificare responsabilità formali.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operativa: tre azioni concrete per i soci e per i potenziali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chiusura. Riprendere il titolo della slide 3 (la mappa) come immagine finale del discorso.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669280" cy="5669280"/>
          </a:xfrm>
          <a:prstGeom prst="ellipse">
            <a:avLst/>
          </a:prstGeom>
          <a:solidFill>
            <a:srgbClr val="D6006E">
              <a:alpha val="22000"/>
            </a:srgbClr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108960"/>
            <a:ext cx="3840480" cy="3840480"/>
          </a:xfrm>
          <a:prstGeom prst="ellipse">
            <a:avLst/>
          </a:prstGeom>
          <a:solidFill>
            <a:srgbClr val="0F9B8E">
              <a:alpha val="20000"/>
            </a:srgbClr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REGIONALE · EDIZIONE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 Digital Health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Emilia-Romagna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attività del territorio e le connessioni che le tengono insieme: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dalle infrastrutture di dati alle Value Chain del Clust-ER Health, fino alla pratica clinica.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2011680" cy="0"/>
          </a:xfrm>
          <a:prstGeom prst="line">
            <a:avLst/>
          </a:prstGeom>
          <a:noFill/>
          <a:ln w="38100">
            <a:solidFill>
              <a:srgbClr val="D60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Industrie della Salute e del Benessere · health.clust-er.it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ADESSO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regione che ha già i dati, l'infrastruttura e la rete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sanitari di qualità, capacità di calcolo per l'AI e una comunità industriale organizzata: tre cose che raramente stanno insieme.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717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514600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mln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49808" y="3364992"/>
            <a:ext cx="640080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520440"/>
            <a:ext cx="216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Fascicoli Sanitari Elettronici attivi: l'Emilia-Romagna è prima in Italia per utilizzo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0138" y="2286000"/>
            <a:ext cx="256717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1306" y="2514600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3591306" y="3364992"/>
            <a:ext cx="640080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1306" y="3520440"/>
            <a:ext cx="216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cittadini ha dato il consenso alla consultazione del FSE (media nazionale 45%)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2286000"/>
            <a:ext cx="256717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2804" y="2514600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 7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432804" y="3364992"/>
            <a:ext cx="640080" cy="0"/>
          </a:xfrm>
          <a:prstGeom prst="line">
            <a:avLst/>
          </a:prstGeom>
          <a:noFill/>
          <a:ln w="25400">
            <a:solidFill>
              <a:srgbClr val="16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804" y="3520440"/>
            <a:ext cx="216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europee: IT4LIA, al Tecnopolo DAMA di Bologna, su 1,5 mld € di investimento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73134" y="2286000"/>
            <a:ext cx="256717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74302" y="2514600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115+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9274302" y="3364992"/>
            <a:ext cx="640080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4302" y="3520440"/>
            <a:ext cx="21648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 del Clust-ER Health tra imprese, laboratori, strutture sanitarie, enti di formazione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FBEAF3"/>
          </a:solidFill>
          <a:ln w="12700">
            <a:solidFill>
              <a:srgbClr val="FBEA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065776"/>
            <a:ext cx="10689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non è quante iniziative ci sono, ma quanto sono collegate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5431536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Infrastrutture di calcolo, dati sanitari regionali, progetti di ricerca PNRR, Value Chain del Clust-ER e imprese lavorano sugli stessi casi d'uso. Questa presentazione mappa i punti di contatto: chi produce i dati, chi costruisce i modelli, chi li valida, chi li porta al paziente.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MAPPA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è fatto l'ecosistema: quattro livelli che si parlano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livello alimenta quello sopra con dati e fabbisogni, e riceve da quello sotto modelli, tecnologie e servizi.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62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286000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Tecnopolo DAMA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12030" y="2286000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62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5182" y="2286000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IT4LIA AI Factory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· LISA · GAIA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55180" y="2286000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6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8332" y="2286000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Fascicolo Sanitario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Elettronico 2.0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98330" y="2286000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16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71482" y="2286000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regionale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telemedicina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27832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3227832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3227832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Lifelong Prevention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2030" y="3227832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0F9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5182" y="3227832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Research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5180" y="3227832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0F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8332" y="3227832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Alta Tecnologia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Tecnopoli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98330" y="3227832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0F9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71482" y="3227832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Università, IRCCS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Aziende sanitarie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69664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69664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4169664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D600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4169664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12030" y="4169664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D60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5182" y="4169664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(MedTech)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55180" y="4169664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D600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8332" y="4169664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SalusTech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98330" y="4169664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D600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1482" y="4169664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ATMPs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MatERials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11496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24314F"/>
          </a:solidFill>
          <a:ln w="12700">
            <a:solidFill>
              <a:srgbClr val="2431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111496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IMPRESE, CLINICA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CITTADINI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68880" y="5111496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2431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5111496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PMI, startup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grandi imprese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12030" y="5111496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2431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5182" y="5111496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di cura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prevenzione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55180" y="5111496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2431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8332" y="5111496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sanitari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98330" y="5111496"/>
            <a:ext cx="214198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2431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71482" y="5111496"/>
            <a:ext cx="19956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Cittadini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pazienti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39871" y="3090672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883021" y="3090672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226171" y="3090672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569321" y="3090672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3539871" y="4032504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883021" y="4032504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8226171" y="4032504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0569321" y="4032504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3539871" y="4974336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5883021" y="4974336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8226171" y="4974336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0569321" y="4974336"/>
            <a:ext cx="0" cy="146304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dati, casistica, fabbisogni clinici          ↓ modelli, dispositivi, servizi digitali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1 · DATI E INFRASTRUTTURE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materiale: calcolo, dati sanitari, piattaforme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questo strato nessun modello di AI clinica arriva alla validazione.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32304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414016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IT4LIA AI Factory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50063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Tecnopolo DAMA di Bologna, una delle prime 7 AI Factory europee. Supercalcolo ottimizzato per l'AI accanto a Leonardo, al sistema LISA e al cloud GAIA. Accesso pensato anche per startup e PMI, con la salute tra i settori strategici.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1636" y="2286000"/>
            <a:ext cx="5408676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96228" y="243230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622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98564" y="2414016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Tecnopolo DAMA · Data Valley Hub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32804" y="2816352"/>
            <a:ext cx="50063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polo bolognese di supercalcolo, big data, AI e quantum computing: il luogo fisico dove ricerca, Regione e imprese condividono la stessa infrastruttura.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5408676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4334256"/>
            <a:ext cx="310896" cy="310896"/>
          </a:xfrm>
          <a:prstGeom prst="ellipse">
            <a:avLst/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4315968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Fascicolo Sanitario Elettronico 2.0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" y="4718304"/>
            <a:ext cx="50063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 milioni di fascicoli attivi e 93% di consensi alla consultazione: la base dati clinica più ampia e più utilizzata d'Italia, ora con documenti nativamente digitali e interoperabili.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1636" y="4187952"/>
            <a:ext cx="5408676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96228" y="4334256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622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8564" y="4315968"/>
            <a:ext cx="4640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e Agenda Digitale 2025-2029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32804" y="4718304"/>
            <a:ext cx="50063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PNRR sulla piattaforma regionale di telemedicina e strategia digitale approvata dall'Assemblea legislativa: telemedicina e FSE come assi prioritari.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11091672" cy="420624"/>
          </a:xfrm>
          <a:prstGeom prst="roundRect">
            <a:avLst>
              <a:gd name="adj" fmla="val 10870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89788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→  questo livello alimenta la Value Chain Big Data &amp; AI, che ne fa la propria infrastruttura di lavoro.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2 · RICERCA E PROGRAMMI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producono i modelli e le evidenze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 nazionali e regionali che mettono AI, big data e sensori al servizio di prevenzione e cura.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3230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414016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 — DigitAl Lifelong pREvention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503834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del Piano complementare al PNRR coordinato dall'Università di Bologna: oltre 250 ricercatori tra atenei, ospedali, aziende sanitarie, enti di ricerca e imprese, su quattro anni.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AI, analisi di big data, supercalcolo e sensori indossabili per costruire modelli di sorveglianza e promozione della salute, riducendo le disuguaglianze territoriali nei servizi socio-sanitari.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2286000"/>
            <a:ext cx="5440680" cy="384048"/>
          </a:xfrm>
          <a:prstGeom prst="roundRect">
            <a:avLst>
              <a:gd name="adj" fmla="val 1190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2784" y="2286000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1 · Fattori e tecnologie abilitanti per la prevenzione digitale (UNIBO)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2743200"/>
            <a:ext cx="5440680" cy="384048"/>
          </a:xfrm>
          <a:prstGeom prst="roundRect">
            <a:avLst>
              <a:gd name="adj" fmla="val 1190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2743200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2 · Prevenzione primaria digitale su base di comunità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3200400"/>
            <a:ext cx="5440680" cy="384048"/>
          </a:xfrm>
          <a:prstGeom prst="roundRect">
            <a:avLst>
              <a:gd name="adj" fmla="val 11905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3200400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3 · Prevenzione secondaria e terziaria abilitata dal digitale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370332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831336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— Future Artificial Intelligence Research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4178808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Partenariato esteso PNRR sull'AI: l'Università di Bologna guida lo Spoke 8.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3514344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4837176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Alta Tecnologia e Tecnopoli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" y="5166360"/>
            <a:ext cx="3112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 industriali diffusi sul territorio che portano AI e dati dentro processi biomedicali, robotica chirurgica, nuovi materiali e farmaci.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37304" y="4709160"/>
            <a:ext cx="3514344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38472" y="4837176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Aziende sanitarie, AUSL e IRCCS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38472" y="5166360"/>
            <a:ext cx="3112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Fornitori del caso d'uso e del dato clinico, e luogo dove i modelli vengono validati sul campo.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25968" y="4709160"/>
            <a:ext cx="3514344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7136" y="4837176"/>
            <a:ext cx="3112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e centri di ricerca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7136" y="5166360"/>
            <a:ext cx="31120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UNIBO, UNIMORE, UNIPR, UNIFE e i centri regionali: competenze su imaging, omiche, modelli interpretabili.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11091672" cy="384048"/>
          </a:xfrm>
          <a:prstGeom prst="roundRect">
            <a:avLst>
              <a:gd name="adj" fmla="val 11905"/>
            </a:avLst>
          </a:prstGeom>
          <a:solidFill>
            <a:srgbClr val="FBEAF3"/>
          </a:solidFill>
          <a:ln w="12700">
            <a:solidFill>
              <a:srgbClr val="FBEA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943600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→  il Clust-ER Health è il luogo in cui questi risultati incontrano le imprese che li industrializzano.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3 · IL CLUST-ER HEALTH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L'associazione che tiene insieme</a:t>
            </a:r>
            <a:endParaRPr lang="en-US" sz="26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ricerca, imprese e sistema sanitario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Clust-ER Industrie della Salute e del Benessere riunisce grandi imprese, PMI e startup, laboratori della Rete Alta Tecnologia, centri di ricerca, strutture sanitarie, enti di formazione e associazioni di pazienti. Il Piano d'azione 2022-2027 ne definisce le priorità: costruire un sistema salute coeso, innovativo e competitivo a partire dal territorio.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818120" y="1737360"/>
            <a:ext cx="3822192" cy="1097280"/>
          </a:xfrm>
          <a:prstGeom prst="roundRect">
            <a:avLst>
              <a:gd name="adj" fmla="val 5000"/>
            </a:avLst>
          </a:prstGeom>
          <a:solidFill>
            <a:srgbClr val="24314F"/>
          </a:solidFill>
          <a:ln w="12700">
            <a:solidFill>
              <a:srgbClr val="3A48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1847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115+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046720" y="23957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3063240"/>
            <a:ext cx="3822192" cy="1097280"/>
          </a:xfrm>
          <a:prstGeom prst="roundRect">
            <a:avLst>
              <a:gd name="adj" fmla="val 5000"/>
            </a:avLst>
          </a:prstGeom>
          <a:solidFill>
            <a:srgbClr val="24314F"/>
          </a:solidFill>
          <a:ln w="12700">
            <a:solidFill>
              <a:srgbClr val="3A48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04672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tematiche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4389120"/>
            <a:ext cx="3822192" cy="1097280"/>
          </a:xfrm>
          <a:prstGeom prst="roundRect">
            <a:avLst>
              <a:gd name="adj" fmla="val 5000"/>
            </a:avLst>
          </a:prstGeom>
          <a:solidFill>
            <a:srgbClr val="24314F"/>
          </a:solidFill>
          <a:ln w="12700">
            <a:solidFill>
              <a:srgbClr val="3A48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498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2022-2027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046720" y="5047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d'azione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del cluster non è la somma dei soci: è il numero di connessioni utili che riesce ad attivare tra loro.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VALUE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filiere, un unico tema trasversale: il dato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non è un settore a parte: è ciò che attraversa tutte le Value Chain del Clust-ER Health.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57400" cy="3017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006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41401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165506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Infrastruttura, modelli e regole per l'uso dei dati sanitari.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" y="4224528"/>
            <a:ext cx="1764792" cy="932688"/>
          </a:xfrm>
          <a:prstGeom prst="roundRect">
            <a:avLst>
              <a:gd name="adj" fmla="val 4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4297680"/>
            <a:ext cx="1581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motore trasversale.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7208" y="2286000"/>
            <a:ext cx="2057400" cy="3017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08376" y="241401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 (MedTech)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08376" y="2926080"/>
            <a:ext cx="165506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Strumenti, apparecchi, software, impianti, reagenti per diagnosi e terapia.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53512" y="4224528"/>
            <a:ext cx="1764792" cy="932688"/>
          </a:xfrm>
          <a:prstGeom prst="roundRect">
            <a:avLst>
              <a:gd name="adj" fmla="val 4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4297680"/>
            <a:ext cx="1581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Medical Device, imaging, robotica chirurgica.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65776" y="2286000"/>
            <a:ext cx="2057400" cy="3017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66944" y="241401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SalusTech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66944" y="2926080"/>
            <a:ext cx="165506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inclusivi e tecnologie usabili per vita sana, attiva e indipendente.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4224528"/>
            <a:ext cx="1764792" cy="932688"/>
          </a:xfrm>
          <a:prstGeom prst="roundRect">
            <a:avLst>
              <a:gd name="adj" fmla="val 4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297680"/>
            <a:ext cx="1581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Sensori, monitoraggio domiciliare, prevenzione.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24344" y="2286000"/>
            <a:ext cx="2057400" cy="3017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25512" y="241401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ATMPs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25512" y="2926080"/>
            <a:ext cx="165506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Farmaceutica, scienze omiche e terapie avanzate.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70648" y="4224528"/>
            <a:ext cx="1764792" cy="932688"/>
          </a:xfrm>
          <a:prstGeom prst="roundRect">
            <a:avLst>
              <a:gd name="adj" fmla="val 4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2088" y="4297680"/>
            <a:ext cx="1581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discovery, dati omici, medicina di precisione.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82912" y="2286000"/>
            <a:ext cx="2057400" cy="3017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784080" y="2414016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926080"/>
            <a:ext cx="165506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Biomateriali, scaffold per medicina rigenerativa e drug delivery.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29216" y="4224528"/>
            <a:ext cx="1764792" cy="932688"/>
          </a:xfrm>
          <a:prstGeom prst="roundRect">
            <a:avLst>
              <a:gd name="adj" fmla="val 490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0656" y="4297680"/>
            <a:ext cx="15819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e progettazione assistita dei materiali.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BEAF3"/>
          </a:solidFill>
          <a:ln w="12700">
            <a:solidFill>
              <a:srgbClr val="FB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56869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SalusTech lavora stabilmente con Big Data &amp; AI e Medical Devices, e in sinergia con Pharma &amp; ATMPs e MatERials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" y="5897880"/>
            <a:ext cx="10689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collaborazioni non sono occasionali: sono il modo ordinario di lavorare del cluster, esteso anche agli altri Clust-ER regionali.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Value Chain Big Data &amp; AI: tre direttrici di lavoro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L'ambizione dichiarata è mettere a sistema le competenze regionali su AI per la salute.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1434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32304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414016"/>
            <a:ext cx="2746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Un'infrastruttura regionale sinergica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889504"/>
            <a:ext cx="3112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Mettere in rete calcolo, dati e piattaforme già esistenti invece di moltiplicarli: un unico ambiente di lavoro per ricerca clinica e imprese.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7304" y="2286000"/>
            <a:ext cx="351434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1896" y="243230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1896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4232" y="2414016"/>
            <a:ext cx="2746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 valutare l'affidabilità dei modelli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8472" y="2889504"/>
            <a:ext cx="3112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 condivisi di validazione, robustezza e interpretabilità: la condizione per far entrare un modello nella pratica clinica.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5968" y="2286000"/>
            <a:ext cx="351434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0560" y="2432304"/>
            <a:ext cx="310896" cy="310896"/>
          </a:xfrm>
          <a:prstGeom prst="ellipse">
            <a:avLst/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5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92896" y="2414016"/>
            <a:ext cx="2746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Conformità normativa nell'uso dei dati sanitari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7136" y="2889504"/>
            <a:ext cx="3112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Accompagnare soci e strutture su GDPR, uso secondario dei dati, AI Act e requisiti dei dispositivi medici software.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2245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 applicativi presidiati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2395728" cy="475488"/>
          </a:xfrm>
          <a:prstGeom prst="roundRect">
            <a:avLst>
              <a:gd name="adj" fmla="val 9615"/>
            </a:avLst>
          </a:prstGeom>
          <a:solidFill>
            <a:srgbClr val="F2F4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5354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di immagini mediche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99232" y="4535424"/>
            <a:ext cx="2944368" cy="475488"/>
          </a:xfrm>
          <a:prstGeom prst="roundRect">
            <a:avLst>
              <a:gd name="adj" fmla="val 9615"/>
            </a:avLst>
          </a:prstGeom>
          <a:solidFill>
            <a:srgbClr val="F2F4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72384" y="4535424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generativi per dati omici e clinici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98464" y="4535424"/>
            <a:ext cx="3310128" cy="475488"/>
          </a:xfrm>
          <a:prstGeom prst="roundRect">
            <a:avLst>
              <a:gd name="adj" fmla="val 9615"/>
            </a:avLst>
          </a:prstGeom>
          <a:solidFill>
            <a:srgbClr val="F2F4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4535424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interpretabile a supporto delle decisioni terapeutiche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63456" y="4535424"/>
            <a:ext cx="2441448" cy="475488"/>
          </a:xfrm>
          <a:prstGeom prst="roundRect">
            <a:avLst>
              <a:gd name="adj" fmla="val 9615"/>
            </a:avLst>
          </a:prstGeom>
          <a:solidFill>
            <a:srgbClr val="F2F4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36608" y="453542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Interoperabilità e data management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38928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" y="5266944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2025-2026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" y="5614416"/>
            <a:ext cx="5038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 «AI meets Biotechnology, Medicine and Pharmacology»: dai fondamenti teorici alle applicazioni cliniche e allo sviluppo del farmaco. Report pubblicato dopo la sessione del 14 ottobre 2025.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5138928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5266944"/>
            <a:ext cx="5038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messaggio ricorrente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0" y="5614416"/>
            <a:ext cx="5038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Servono infrastrutture interoperabili e una gestione robusta del dato: senza questi, i modelli restano prototipi e non diventano pratica clinica.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CONNESSIONI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le Value Chain si usano a vicenda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collegamento è un flusso concreto: dati che salgono, modelli e tecnologie che tornano indietro.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3154680"/>
            <a:ext cx="2843784" cy="50292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6729984" y="3154680"/>
            <a:ext cx="2852928" cy="50292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2606040" y="4160520"/>
            <a:ext cx="2843784" cy="86868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6729984" y="4160520"/>
            <a:ext cx="2852928" cy="86868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3154680"/>
            <a:ext cx="0" cy="1874520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582912" y="3154680"/>
            <a:ext cx="0" cy="1874520"/>
          </a:xfrm>
          <a:prstGeom prst="line">
            <a:avLst/>
          </a:prstGeom>
          <a:noFill/>
          <a:ln w="19050">
            <a:solidFill>
              <a:srgbClr val="D8DEE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901184" y="33604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01184" y="34701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01184" y="38907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· modelli · regole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22860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imaging, SaMD, robotica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331012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331012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dispositivi e software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 ← modelli AI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11312" y="22860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48472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SalusTech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monitoraggio, servizi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331012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15784" y="331012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da sensori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domicilio 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34440" y="50292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5120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ATMPs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468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omiche, terapie avanzate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4553712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455371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omici →</a:t>
            </a:r>
            <a:endParaRPr lang="en-US" sz="95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modelli generativi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11312" y="502920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48472" y="5120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48472" y="5468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biomateriali, scaffold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4553712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15784" y="455371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simulazione</a:t>
            </a:r>
            <a:endParaRPr lang="en-US" sz="9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progettazione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 tratteggiata: collaborazioni dirette tra filiere, senza passare dal dato (materiali per dispositivi, tecnologie per la vita indipendente).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CATENA END-TO-END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alla cura: chi fa cosa, in ordine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percorso, letto come filiera: ogni passaggio ha un titolare diverso e un punto di consegna.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62302" cy="2331720"/>
          </a:xfrm>
          <a:prstGeom prst="roundRect">
            <a:avLst>
              <a:gd name="adj" fmla="val 279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1596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5965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2.0, cartelle cliniche, registri, sensori indossabili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159654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33088"/>
            <a:ext cx="1596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Aziende sanitarie, AUSL, IRCCS, Regione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5806" y="3429000"/>
            <a:ext cx="210312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0982" y="2286000"/>
            <a:ext cx="1962302" cy="2331720"/>
          </a:xfrm>
          <a:prstGeom prst="roundRect">
            <a:avLst>
              <a:gd name="adj" fmla="val 279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13862" y="2468880"/>
            <a:ext cx="347472" cy="347472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3862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3862" y="2926080"/>
            <a:ext cx="1596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e modello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3862" y="3291840"/>
            <a:ext cx="15965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AI, addestramento, modelli interpretabili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3862" y="4069080"/>
            <a:ext cx="159654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3862" y="4133088"/>
            <a:ext cx="1596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IT4LIA, Tecnopolo DAMA, DARE, FAIR, università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8149" y="3429000"/>
            <a:ext cx="210312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13325" y="2286000"/>
            <a:ext cx="1962302" cy="2331720"/>
          </a:xfrm>
          <a:prstGeom prst="roundRect">
            <a:avLst>
              <a:gd name="adj" fmla="val 279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96205" y="2468880"/>
            <a:ext cx="347472" cy="347472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6205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6205" y="2926080"/>
            <a:ext cx="1596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96205" y="3291840"/>
            <a:ext cx="15965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Robustezza, affidabilità, conformità normativa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96205" y="4069080"/>
            <a:ext cx="159654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6205" y="4133088"/>
            <a:ext cx="1596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Big Data &amp; AI, laboratori RAT, clinici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0491" y="3429000"/>
            <a:ext cx="210312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95667" y="2286000"/>
            <a:ext cx="1962302" cy="2331720"/>
          </a:xfrm>
          <a:prstGeom prst="roundRect">
            <a:avLst>
              <a:gd name="adj" fmla="val 279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78547" y="2468880"/>
            <a:ext cx="347472" cy="347472"/>
          </a:xfrm>
          <a:prstGeom prst="ellipse">
            <a:avLst/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8547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78547" y="2926080"/>
            <a:ext cx="1596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Prodotto e servizio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578547" y="3291840"/>
            <a:ext cx="15965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Dispositivi, SaMD, servizi di telemonitoraggio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78547" y="4069080"/>
            <a:ext cx="159654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8547" y="4133088"/>
            <a:ext cx="1596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Imprese e startup delle Value Chain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412834" y="3429000"/>
            <a:ext cx="210312" cy="0"/>
          </a:xfrm>
          <a:prstGeom prst="line">
            <a:avLst/>
          </a:prstGeom>
          <a:noFill/>
          <a:ln w="25400">
            <a:solidFill>
              <a:srgbClr val="D600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78010" y="2286000"/>
            <a:ext cx="1962302" cy="2331720"/>
          </a:xfrm>
          <a:prstGeom prst="roundRect">
            <a:avLst>
              <a:gd name="adj" fmla="val 279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860890" y="2468880"/>
            <a:ext cx="347472" cy="347472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6089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60890" y="2926080"/>
            <a:ext cx="15965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clinico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860890" y="3291840"/>
            <a:ext cx="15965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di cura, prevenzione, presa in carico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860890" y="4069080"/>
            <a:ext cx="159654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60890" y="4133088"/>
            <a:ext cx="15965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Professionisti sanitari e cittadini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4286"/>
            </a:avLst>
          </a:prstGeom>
          <a:solidFill>
            <a:srgbClr val="F2F4F8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020056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Abilitatori trasversali — presenti in ogni passaggio, non solo alla fine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49808" y="5422392"/>
            <a:ext cx="10689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e conformità (GDPR, uso secondario dei dati, AI Act, requisiti dei dispositivi medici)  ·  Competenze e formazione dei professionisti  ·  Finanziamenti (PNRR, fondi regionali, Horizon Europe)  ·  Coinvolgimento di cittadini e associazioni di pazienti.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qui che il Clust-ER opera come connettore: mette allo stesso tavolo chi ha il dato, chi ha il modello e chi ha l'obbligo di risponderne.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CI SI INCONTRA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connessioni hanno bisogno di luoghi e di calendario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appuntamenti in cui le attività diventano progetti condivisi.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006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4140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 — Research to Business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9077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fiera bolognese dell'innovazione: il Clust-ER Health la usa come vetrina delle connessioni tra soci e come punto di incontro con gli altri Clust-ER regionali.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22860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8472" y="24140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Exposanità 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38472" y="29077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sul futuro della sanità digitale, con il cluster presente su innovazione e digital health.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5968" y="22860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24140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 delle Value Chain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7136" y="29077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 tematiche (AI e biotecnologie, medicina e farmacologia) che producono report pubblici e agende di lavoro.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006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42428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Tour e BioHubs Network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47365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e ricognizioni sull'ecosistema regionale — medicina rigenerativa, biotecnologie e medicina di precisione.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37304" y="41148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0F9B8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8472" y="42428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Missioni a Bruxelles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8472" y="47365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Dialogo istituzionale con le istituzioni europee per posizionare l'ecosistema salute regionale.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25968" y="4114800"/>
            <a:ext cx="3514344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16233C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7136" y="4242816"/>
            <a:ext cx="3112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Tavoli con la Regione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27136" y="4736592"/>
            <a:ext cx="3112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Raccordo con l'Agenda digitale e le politiche sanitarie regionali su dati, telemedicina e prevenzione.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1111"/>
            </a:avLst>
          </a:prstGeom>
          <a:solidFill>
            <a:srgbClr val="FBEAF3"/>
          </a:solidFill>
          <a:ln w="12700">
            <a:solidFill>
              <a:srgbClr val="FBEA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897880"/>
            <a:ext cx="10579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«Connessioni che generano innovazione» non è uno slogan: è il criterio con cui il cluster sceglie a cosa dedicare tempo.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DIMENSIONE EUROPEA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stesse attività, collegate al resto d'Europa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progetti europei sono il modo in cui l'ecosistema regionale scala oltre i propri confini.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386584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368296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770632"/>
            <a:ext cx="5038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partner di 12 regioni europee, 10 Stati membri più un paese associato. Finanzierà 4 grandi progetti congiunti interregionali (JIP) su digital health e terapie avanzate.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Clust-ER Health è tra i principali partner italiani e collega competenze e infrastrutture regionali diverse.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22402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64224" y="238658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368296"/>
            <a:ext cx="4672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InnoMedCatalyst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2770632"/>
            <a:ext cx="5038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Rafforza la capacità di innovazione dell'ecosistema della medicina di precisione digitale.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Clust-ER Health è task leader del WP4: un programma di accelerazione per imprese MedTech che sviluppano soluzioni di medicina di precisione digitale.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51434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4562856"/>
            <a:ext cx="311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NEST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910328"/>
            <a:ext cx="31120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Consorzio di cluster europei sulla medicina di precisione: scambi tra ecosistemi e imprese.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7304" y="4434840"/>
            <a:ext cx="351434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38472" y="4562856"/>
            <a:ext cx="311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Innovation Valley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38472" y="4910328"/>
            <a:ext cx="31120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L'Emilia-Romagna come hub europeo della medicina personalizzata.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25968" y="4434840"/>
            <a:ext cx="351434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7136" y="4562856"/>
            <a:ext cx="311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Europe e reti di cluster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7136" y="4910328"/>
            <a:ext cx="31120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 bandi, partner e mercati per i soci del cluster.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1111"/>
            </a:avLst>
          </a:prstGeom>
          <a:solidFill>
            <a:srgbClr val="E6F5F3"/>
          </a:solidFill>
          <a:ln w="12700">
            <a:solidFill>
              <a:srgbClr val="E6F5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897880"/>
            <a:ext cx="10579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 →  i casi d'uso testati sui dati regionali diventano progetti interregionali, e viceversa.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lavora con chi, su cosa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sintetica dei punti di contatto tra attori dell'ecosistema e ambiti dell'AI in sanità.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27832"/>
                <a:gridCol w="1572768"/>
                <a:gridCol w="1572768"/>
                <a:gridCol w="1572768"/>
                <a:gridCol w="1572768"/>
                <a:gridCol w="157276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infrastrutture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algoritmi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Validazione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Prodotti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servizi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Regole 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6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Regione E-R e aziende sanitarie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IT4LIA · Tecnopolo DAMA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 · FAIR · Università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Big Data &amp;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Altre Value Chain del Clust-ER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Imprese, PMI e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C3CA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D6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F9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primario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0" y="5440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</a:t>
            </a:r>
            <a:pPr indent="0" marL="0"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di supporto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5440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coinvolgimento indiretto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5852160"/>
            <a:ext cx="11091672" cy="438912"/>
          </a:xfrm>
          <a:prstGeom prst="roundRect">
            <a:avLst>
              <a:gd name="adj" fmla="val 104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852160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colonne con più «●» sovrapposti sono i punti in cui il coordinamento paga di più: dati, validazione e regole.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tenere insieme nei prossimi mesi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cantieri in cui le connessioni descritte finora devono produrre risultati verificabili.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8089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432304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414016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ordinato al calcolo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926080"/>
            <a:ext cx="217855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 praticabile per PMI e strutture sanitarie l'uso dell'infrastruttura AI regionale: percorsi di accesso, competenze, casi d'uso pilota.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5566" y="2286000"/>
            <a:ext cx="258089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50158" y="243230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0158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52494" y="2414016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riusabili e interoperabili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6734" y="2926080"/>
            <a:ext cx="217855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FSE 2.0 all'uso secondario per ricerca: qualità del dato, standard, governance del consenso.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22492" y="2286000"/>
            <a:ext cx="258089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7084" y="2432304"/>
            <a:ext cx="310896" cy="310896"/>
          </a:xfrm>
          <a:prstGeom prst="ellipse">
            <a:avLst/>
          </a:prstGeom>
          <a:solidFill>
            <a:srgbClr val="D6006E"/>
          </a:solidFill>
          <a:ln w="12700">
            <a:solidFill>
              <a:srgbClr val="D60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7084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89420" y="2414016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e affidabilità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3660" y="2926080"/>
            <a:ext cx="217855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condivisi per valutare i modelli e portarli dalla ricerca al percorso clinico.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9418" y="2286000"/>
            <a:ext cx="258089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24010" y="2432304"/>
            <a:ext cx="310896" cy="31089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401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26346" y="2414016"/>
            <a:ext cx="1812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progetto al prodotto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0586" y="2926080"/>
            <a:ext cx="217855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Accompagnare le imprese su conformità regolatoria, evidenza clinica e accesso al mercato europeo.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6233C"/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00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del Clust-ER Health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5166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aggiungere iniziative, ma ridurre la distanza tra quelle che esistono: mettere insieme chi ha i dati, chi ha il calcolo, chi ha il metodo e chi ha il paziente.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48463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Portare un caso d'uso concreto al tavolo della VC Big Data &amp; AI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52303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Candidarsi ai programmi di accelerazione e ai progetti europei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35040" y="561441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Partecipare ai seminari e ai gruppi di lavoro delle Value Chain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486400" cy="5486400"/>
          </a:xfrm>
          <a:prstGeom prst="ellipse">
            <a:avLst/>
          </a:prstGeom>
          <a:solidFill>
            <a:srgbClr val="D6006E">
              <a:alpha val="20000"/>
            </a:srgbClr>
          </a:solidFill>
          <a:ln w="12700">
            <a:solidFill>
              <a:srgbClr val="1623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Connessioni che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generano innovazione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L'Emilia-Romagna ha i dati, l'infrastruttura di calcolo e la comunità industriale.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6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lavoro che resta è tenerle collegate.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2011680" cy="0"/>
          </a:xfrm>
          <a:prstGeom prst="line">
            <a:avLst/>
          </a:prstGeom>
          <a:noFill/>
          <a:ln w="38100">
            <a:solidFill>
              <a:srgbClr val="D60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Industrie della Salute e del Benessere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health.clust-er.it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500" b="1" spc="60" kern="0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pPr indent="0" marL="0">
              <a:buNone/>
            </a:pPr>
            <a:r>
              <a:rPr lang="en-US" sz="1500" b="1" spc="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3100" b="1" dirty="0">
                <a:solidFill>
                  <a:srgbClr val="16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utilizzate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Contenuti ricostruiti da fonti pubbliche; verificare i dati aggiornati prima di un uso esterno.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3B2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87168"/>
            <a:ext cx="10451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— Value Chain «Big Data e AI», «Medical Devices», «SalusTech», «Pharma &amp; ATMPs», «Materials»; pagina «L'Associazione»; Piano d'azione 2022-2027; Report Big Data &amp; AI (sessione 14.10.2025). health.clust-er.it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— articoli su R2B, Exposanità 2026, rete BioHubs, missione a Bruxelles, PRECISEU e InnoMedCatalyst.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 Emilia-Romagna — IT4LIA AI Factory al Tecnopolo DAMA (2025); Fascicolo Sanitario Elettronico, dati di utilizzo 2025-2026; Agenda digitale 2025-2029.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Bologna e AUSL Romagna — programma DARE (DigitAl Lifelong pREvention) e partenariato esteso FAIR, Spoke 8.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ART-ER — rete dei Clust-ER dell'Emilia-Romagna, Rete Alta Tecnologia e Tecnopoli.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937760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la presentazione usa una ricostruzione dell'identità visiva Clust-ER Health (magenta di marca e navy istituzionale).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Sostituire palette e logo con il template ufficiale prima della diffusione esterna.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10451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Clust-ER Health · AI e Digital Health in Emilia-Romagna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00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Clust-ER Industrie della Salute e del Benessere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 Digital Health in Emilia-Romagna</dc:title>
  <dc:subject>PptxGenJS Presentation</dc:subject>
  <dc:creator>Clust-ER Health</dc:creator>
  <cp:lastModifiedBy>Clust-ER Health</cp:lastModifiedBy>
  <cp:revision>1</cp:revision>
  <dcterms:created xsi:type="dcterms:W3CDTF">2026-08-10T22:23:57Z</dcterms:created>
  <dcterms:modified xsi:type="dcterms:W3CDTF">2026-08-10T22:23:57Z</dcterms:modified>
</cp:coreProperties>
</file>